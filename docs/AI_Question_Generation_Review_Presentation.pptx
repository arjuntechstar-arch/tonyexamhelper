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8"/>
          </a:solidFill>
          <a:ln>
            <a:solidFill>
              <a:srgbClr val="0C1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325880"/>
            <a:ext cx="9966960" cy="6400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AI Question Generation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048256"/>
            <a:ext cx="8046720" cy="38404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000" b="1">
                <a:solidFill>
                  <a:srgbClr val="2FC2D2"/>
                </a:solidFill>
                <a:latin typeface="Aptos"/>
              </a:defRPr>
            </a:pPr>
            <a:r>
              <a:t>Technical Implementation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679192"/>
            <a:ext cx="996696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700" b="0">
                <a:solidFill>
                  <a:srgbClr val="D3E1EF"/>
                </a:solidFill>
                <a:latin typeface="Aptos"/>
              </a:defRPr>
            </a:pPr>
            <a:r>
              <a:t>RAG-based assessment generation, validation, observability, and quality assurance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3840480"/>
            <a:ext cx="2743200" cy="658368"/>
          </a:xfrm>
          <a:prstGeom prst="roundRect">
            <a:avLst/>
          </a:prstGeom>
          <a:solidFill>
            <a:srgbClr val="1968B4"/>
          </a:solidFill>
          <a:ln>
            <a:solidFill>
              <a:srgbClr val="19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032504"/>
            <a:ext cx="237744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Progress: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45720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0">
                <a:solidFill>
                  <a:srgbClr val="D3E1EF"/>
                </a:solidFill>
                <a:latin typeface="Aptos"/>
              </a:defRPr>
            </a:pPr>
            <a:r>
              <a:t>Project Review •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Automate creation of reliable and diverse examination questions from study material.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" y="1481328"/>
            <a:ext cx="10972800" cy="4325112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56231"/>
            <a:ext cx="19202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900" b="1">
                <a:solidFill>
                  <a:srgbClr val="0C1D38"/>
                </a:solidFill>
                <a:latin typeface="Aptos"/>
              </a:defRPr>
            </a:pPr>
            <a:r>
              <a:t>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9424"/>
            <a:ext cx="9784080" cy="57607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100" b="0">
                <a:solidFill>
                  <a:srgbClr val="1F2F40"/>
                </a:solidFill>
                <a:latin typeface="Aptos"/>
              </a:defRPr>
            </a:pPr>
            <a:r>
              <a:t>Generating many meaningful questions from the same material without repetition, hallucination, or weak answer options.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55264"/>
            <a:ext cx="192024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900" b="1">
                <a:solidFill>
                  <a:srgbClr val="0C1D38"/>
                </a:solidFill>
                <a:latin typeface="Aptos"/>
              </a:defRPr>
            </a:pPr>
            <a:r>
              <a:t>System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648456"/>
            <a:ext cx="987552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F40"/>
                </a:solidFill>
                <a:latin typeface="Aptos"/>
              </a:defRPr>
            </a:pPr>
            <a:r>
              <a:t>Source-grounded question generation using RAG.</a:t>
            </a:r>
          </a:p>
          <a:p>
            <a:pPr>
              <a:spcAft>
                <a:spcPts val="1000"/>
              </a:spcAft>
              <a:defRPr sz="1700">
                <a:solidFill>
                  <a:srgbClr val="1F2F40"/>
                </a:solidFill>
                <a:latin typeface="Aptos"/>
              </a:defRPr>
            </a:pPr>
            <a:r>
              <a:t>Multiple cognitive patterns: conceptual, application, scenario-based, and numerical.</a:t>
            </a:r>
          </a:p>
          <a:p>
            <a:pPr>
              <a:spcAft>
                <a:spcPts val="1000"/>
              </a:spcAft>
              <a:defRPr sz="1700">
                <a:solidFill>
                  <a:srgbClr val="1F2F40"/>
                </a:solidFill>
                <a:latin typeface="Aptos"/>
              </a:defRPr>
            </a:pPr>
            <a:r>
              <a:t>Question-by-question validation, duplicate prevention, and transparent error reporting.</a:t>
            </a:r>
          </a:p>
          <a:p>
            <a:pPr>
              <a:spcAft>
                <a:spcPts val="1000"/>
              </a:spcAft>
              <a:defRPr sz="1700">
                <a:solidFill>
                  <a:srgbClr val="1F2F40"/>
                </a:solidFill>
                <a:latin typeface="Aptos"/>
              </a:defRPr>
            </a:pPr>
            <a:r>
              <a:t>End-to-end monitoring for retrieval, generation, validation, and provider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End-to-End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Custom orchestration workflow; the application does not depend on LangChain or LangGraph.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" y="1517904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82495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93391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04288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PDF / study material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84248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20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17904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682495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1993391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304288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clean + chunk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33872" y="1984248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20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517904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1682495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1993391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304288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embeddings + HNSW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1664" y="1984248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20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98864" y="1517904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3456" y="1682495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63456" y="1993391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Retrieve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2304288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hybrid + MMR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3602735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767327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78223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89120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facts / evidence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069079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20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3602735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47872" y="3767327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4078223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47872" y="4389120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LLM MCQs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3872" y="4069079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20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91072" y="3602735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5664" y="3767327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5664" y="4078223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4389120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rules + critic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41664" y="4069079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20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98864" y="3602735"/>
            <a:ext cx="2340864" cy="116128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63456" y="3767327"/>
            <a:ext cx="36576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1">
                <a:solidFill>
                  <a:srgbClr val="2FC2D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63456" y="4078223"/>
            <a:ext cx="192024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6" y="4389120"/>
            <a:ext cx="194767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5B6E80"/>
                </a:solidFill>
                <a:latin typeface="Aptos"/>
              </a:defRPr>
            </a:pPr>
            <a:r>
              <a:t>traces +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879592"/>
            <a:ext cx="10881360" cy="31089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600" b="1">
                <a:solidFill>
                  <a:srgbClr val="259663"/>
                </a:solidFill>
                <a:latin typeface="Aptos"/>
              </a:defRPr>
            </a:pPr>
            <a:r>
              <a:t>Each request is traced across every phase and returns either validated questions, partial results, or an exact failure reason.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Models and Providers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Provider-agnostic design: generation model is chosen through environment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53312"/>
            <a:ext cx="5349240" cy="4480560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438912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000" b="1">
                <a:solidFill>
                  <a:srgbClr val="0C1D38"/>
                </a:solidFill>
                <a:latin typeface="Aptos"/>
              </a:defRPr>
            </a:pPr>
            <a:r>
              <a:t>Current deployment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2148840"/>
            <a:ext cx="1353312" cy="292608"/>
          </a:xfrm>
          <a:prstGeom prst="round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2203704"/>
            <a:ext cx="1207008" cy="1645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ACTIVE 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87752"/>
            <a:ext cx="4160520" cy="3931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600" b="1">
                <a:solidFill>
                  <a:srgbClr val="1968B4"/>
                </a:solidFill>
                <a:latin typeface="Aptos"/>
              </a:defRPr>
            </a:pPr>
            <a:r>
              <a:t>NVIDIA NIM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099816"/>
            <a:ext cx="411480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00" b="0">
                <a:solidFill>
                  <a:srgbClr val="5B6E80"/>
                </a:solidFill>
                <a:latin typeface="Aptos"/>
              </a:defRPr>
            </a:pPr>
            <a:r>
              <a:t>Configured generation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401568"/>
            <a:ext cx="4206240" cy="35661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200" b="1">
                <a:solidFill>
                  <a:srgbClr val="1F2F40"/>
                </a:solidFill>
                <a:latin typeface="Aptos"/>
              </a:defRPr>
            </a:pPr>
            <a:r>
              <a:t>moonshotai/kimi-k3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42232"/>
            <a:ext cx="4279392" cy="49377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500" b="0">
                <a:solidFill>
                  <a:srgbClr val="1F2F40"/>
                </a:solidFill>
                <a:latin typeface="Aptos"/>
              </a:defRPr>
            </a:pPr>
            <a:r>
              <a:t>The UI health indicator displays API connectivity and model readiness.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353312"/>
            <a:ext cx="53492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700784"/>
            <a:ext cx="4389120" cy="29260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000" b="1">
                <a:solidFill>
                  <a:srgbClr val="0C1D38"/>
                </a:solidFill>
                <a:latin typeface="Aptos"/>
              </a:defRPr>
            </a:pPr>
            <a:r>
              <a:t>Supported provider paths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176272"/>
            <a:ext cx="4434840" cy="2971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NVIDIA NIM — current hosted model path.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OpenRouter — configurable hosted model path.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OpenAI-compatible endpoint — configurable model path.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Deterministic provider — controlled testing only; not an LLM critic or production-quality generator.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Independent solver and LLM critic — invoked when a separately configured capable model is available.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Algorithms and Techniques by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The pipeline combines information retrieval, constrained LLM generation, and deterministic quality controls.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444752"/>
            <a:ext cx="10927080" cy="539496"/>
          </a:xfrm>
          <a:prstGeom prst="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157276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50" b="1">
                <a:solidFill>
                  <a:srgbClr val="0C1D38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7168" y="1554480"/>
            <a:ext cx="38862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1F2F40"/>
                </a:solidFill>
                <a:latin typeface="Aptos"/>
              </a:defRPr>
            </a:pPr>
            <a:r>
              <a:t>Text normalization, regex noise filtering, chunking with overlap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554480"/>
            <a:ext cx="4617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5B6E80"/>
                </a:solidFill>
                <a:latin typeface="Aptos"/>
              </a:defRPr>
            </a:pPr>
            <a:r>
              <a:t>Creates clean, semantically coherent source units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48840"/>
            <a:ext cx="10927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57276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50" b="1">
                <a:solidFill>
                  <a:srgbClr val="0C1D38"/>
                </a:solidFill>
                <a:latin typeface="Aptos"/>
              </a:defRPr>
            </a:pPr>
            <a:r>
              <a:t>Indexing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258568"/>
            <a:ext cx="38862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1F2F40"/>
                </a:solidFill>
                <a:latin typeface="Aptos"/>
              </a:defRPr>
            </a:pPr>
            <a:r>
              <a:t>Dense embeddings + HNSW approximate nearest-neighbor index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258568"/>
            <a:ext cx="4617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5B6E80"/>
                </a:solidFill>
                <a:latin typeface="Aptos"/>
              </a:defRPr>
            </a:pPr>
            <a:r>
              <a:t>Enables scalable semantic retrieval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852928"/>
            <a:ext cx="10927080" cy="539496"/>
          </a:xfrm>
          <a:prstGeom prst="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990088"/>
            <a:ext cx="157276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50" b="1">
                <a:solidFill>
                  <a:srgbClr val="0C1D38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962656"/>
            <a:ext cx="38862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1F2F40"/>
                </a:solidFill>
                <a:latin typeface="Aptos"/>
              </a:defRPr>
            </a:pPr>
            <a:r>
              <a:t>Hybrid dense/lexical retrieval, cosine similarity, MMR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2962656"/>
            <a:ext cx="4617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5B6E80"/>
                </a:solidFill>
                <a:latin typeface="Aptos"/>
              </a:defRPr>
            </a:pPr>
            <a:r>
              <a:t>Finds relevant evidence while reducing redundancy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57016"/>
            <a:ext cx="10927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94176"/>
            <a:ext cx="157276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50" b="1">
                <a:solidFill>
                  <a:srgbClr val="0C1D38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87168" y="3666744"/>
            <a:ext cx="38862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1F2F40"/>
                </a:solidFill>
                <a:latin typeface="Aptos"/>
              </a:defRPr>
            </a:pPr>
            <a:r>
              <a:t>Prompt engineering, constrained JSON output, diversity rotation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666744"/>
            <a:ext cx="4617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5B6E80"/>
                </a:solidFill>
                <a:latin typeface="Aptos"/>
              </a:defRPr>
            </a:pPr>
            <a:r>
              <a:t>Creates different MCQ styles from selected evidence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261104"/>
            <a:ext cx="10927080" cy="539496"/>
          </a:xfrm>
          <a:prstGeom prst="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398264"/>
            <a:ext cx="157276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50" b="1">
                <a:solidFill>
                  <a:srgbClr val="0C1D38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87168" y="4370832"/>
            <a:ext cx="38862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1F2F40"/>
                </a:solidFill>
                <a:latin typeface="Aptos"/>
              </a:defRPr>
            </a:pPr>
            <a:r>
              <a:t>Schema/rule checks, regex heuristics, semantic duplicate checks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370832"/>
            <a:ext cx="4617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5B6E80"/>
                </a:solidFill>
                <a:latin typeface="Aptos"/>
              </a:defRPr>
            </a:pPr>
            <a:r>
              <a:t>Rejects malformed, generic, or repeated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965192"/>
            <a:ext cx="10927080" cy="5394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102352"/>
            <a:ext cx="1572768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350" b="1">
                <a:solidFill>
                  <a:srgbClr val="0C1D38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87168" y="5074920"/>
            <a:ext cx="3886200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1F2F40"/>
                </a:solidFill>
                <a:latin typeface="Aptos"/>
              </a:defRPr>
            </a:pPr>
            <a:r>
              <a:t>Independent blind solver + LLM-as-a-Judge when configured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5074920"/>
            <a:ext cx="46177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50" b="0">
                <a:solidFill>
                  <a:srgbClr val="5B6E80"/>
                </a:solidFill>
                <a:latin typeface="Aptos"/>
              </a:defRPr>
            </a:pPr>
            <a:r>
              <a:t>Checks answer correctness, ambiguity, and faithfulness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1143000"/>
            <a:ext cx="128016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1">
                <a:solidFill>
                  <a:srgbClr val="1968B4"/>
                </a:solidFill>
                <a:latin typeface="Aptos"/>
              </a:defRPr>
            </a:pPr>
            <a:r>
              <a:t>Phase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87168" y="1143000"/>
            <a:ext cx="29260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1">
                <a:solidFill>
                  <a:srgbClr val="1968B4"/>
                </a:solidFill>
                <a:latin typeface="Aptos"/>
              </a:defRPr>
            </a:pPr>
            <a:r>
              <a:t>Algorithm / Technique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1143000"/>
            <a:ext cx="29260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1">
                <a:solidFill>
                  <a:srgbClr val="1968B4"/>
                </a:solidFill>
                <a:latin typeface="Aptos"/>
              </a:defRPr>
            </a:pPr>
            <a:r>
              <a:t>Technical purpose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Question Generation and Quality-Control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Generation is evidence-led and validated per candidate rather than only after the complete batch.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94767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947672" cy="128016"/>
          </a:xfrm>
          <a:prstGeom prst="rect">
            <a:avLst/>
          </a:prstGeom>
          <a:solidFill>
            <a:srgbClr val="F49A39"/>
          </a:solidFill>
          <a:ln>
            <a:solidFill>
              <a:srgbClr val="F4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093976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F49A3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32888"/>
            <a:ext cx="1554480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500" b="1">
                <a:solidFill>
                  <a:srgbClr val="0C1D38"/>
                </a:solidFill>
                <a:latin typeface="Aptos"/>
              </a:defRPr>
            </a:pPr>
            <a:r>
              <a:t>Evidence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91256"/>
            <a:ext cx="1591056" cy="52120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1F2F40"/>
                </a:solidFill>
                <a:latin typeface="Aptos"/>
              </a:defRPr>
            </a:pPr>
            <a:r>
              <a:t>Select complete, usable facts from retrieved chunks.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743200"/>
            <a:ext cx="274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9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1828800"/>
            <a:ext cx="194767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25496" y="1828800"/>
            <a:ext cx="1947672" cy="128016"/>
          </a:xfrm>
          <a:prstGeom prst="rect">
            <a:avLst/>
          </a:prstGeom>
          <a:solidFill>
            <a:srgbClr val="F49A39"/>
          </a:solidFill>
          <a:ln>
            <a:solidFill>
              <a:srgbClr val="F4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2093976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F49A3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2532888"/>
            <a:ext cx="1554480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500" b="1">
                <a:solidFill>
                  <a:srgbClr val="0C1D38"/>
                </a:solidFill>
                <a:latin typeface="Aptos"/>
              </a:defRPr>
            </a:pPr>
            <a:r>
              <a:t>Diversity 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191256"/>
            <a:ext cx="1591056" cy="52120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1F2F40"/>
                </a:solidFill>
                <a:latin typeface="Aptos"/>
              </a:defRPr>
            </a:pPr>
            <a:r>
              <a:t>Rotate definition, comparison, application, scenario, and formula/problem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2743200"/>
            <a:ext cx="274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9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48072" y="1828800"/>
            <a:ext cx="194767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48072" y="1828800"/>
            <a:ext cx="1947672" cy="128016"/>
          </a:xfrm>
          <a:prstGeom prst="rect">
            <a:avLst/>
          </a:prstGeom>
          <a:solidFill>
            <a:srgbClr val="F49A39"/>
          </a:solidFill>
          <a:ln>
            <a:solidFill>
              <a:srgbClr val="F4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0096" y="2093976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F49A3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0952" y="2532888"/>
            <a:ext cx="1554480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500" b="1">
                <a:solidFill>
                  <a:srgbClr val="0C1D38"/>
                </a:solidFill>
                <a:latin typeface="Aptos"/>
              </a:defRPr>
            </a:pPr>
            <a:r>
              <a:t>LLM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2" y="3191256"/>
            <a:ext cx="1591056" cy="52120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1F2F40"/>
                </a:solidFill>
                <a:latin typeface="Aptos"/>
              </a:defRPr>
            </a:pPr>
            <a:r>
              <a:t>Generate structured four-option MCQs from fact records.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743200"/>
            <a:ext cx="274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9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70648" y="1828800"/>
            <a:ext cx="194767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70648" y="1828800"/>
            <a:ext cx="1947672" cy="128016"/>
          </a:xfrm>
          <a:prstGeom prst="rect">
            <a:avLst/>
          </a:prstGeom>
          <a:solidFill>
            <a:srgbClr val="F49A39"/>
          </a:solidFill>
          <a:ln>
            <a:solidFill>
              <a:srgbClr val="F4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2" y="2093976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F49A3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3527" y="2532888"/>
            <a:ext cx="1554480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500" b="1">
                <a:solidFill>
                  <a:srgbClr val="0C1D38"/>
                </a:solidFill>
                <a:latin typeface="Aptos"/>
              </a:defRPr>
            </a:pPr>
            <a:r>
              <a:t>Candidate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7" y="3191256"/>
            <a:ext cx="1591056" cy="52120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1F2F40"/>
                </a:solidFill>
                <a:latin typeface="Aptos"/>
              </a:defRPr>
            </a:pPr>
            <a:r>
              <a:t>Check structure, answer key, explanation, complexity, source grounding, and distractors.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2743200"/>
            <a:ext cx="27432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900" b="1">
                <a:solidFill>
                  <a:srgbClr val="1968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93224" y="1828800"/>
            <a:ext cx="1947672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93224" y="1828800"/>
            <a:ext cx="1947672" cy="128016"/>
          </a:xfrm>
          <a:prstGeom prst="rect">
            <a:avLst/>
          </a:prstGeom>
          <a:solidFill>
            <a:srgbClr val="F49A39"/>
          </a:solidFill>
          <a:ln>
            <a:solidFill>
              <a:srgbClr val="F4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5248" y="2093976"/>
            <a:ext cx="292608" cy="25603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F49A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76104" y="2532888"/>
            <a:ext cx="1554480" cy="5120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500" b="1">
                <a:solidFill>
                  <a:srgbClr val="0C1D38"/>
                </a:solidFill>
                <a:latin typeface="Aptos"/>
              </a:defRPr>
            </a:pPr>
            <a:r>
              <a:t>Retry or accept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6104" y="3191256"/>
            <a:ext cx="1591056" cy="521207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200" b="0">
                <a:solidFill>
                  <a:srgbClr val="1F2F40"/>
                </a:solidFill>
                <a:latin typeface="Aptos"/>
              </a:defRPr>
            </a:pPr>
            <a:r>
              <a:t>Retry only failed/duplicate candidate with a changed diversity angle.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" y="4773168"/>
            <a:ext cx="10607040" cy="5029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600" b="1">
                <a:solidFill>
                  <a:srgbClr val="259663"/>
                </a:solidFill>
                <a:latin typeface="Aptos"/>
              </a:defRPr>
            </a:pPr>
            <a:r>
              <a:t>Quality gates: exactly 4 options • one valid answer • no duplicate options • no generic distractors • source faithfulness • no semantic duplicate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Intermediate Results Obtained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Implemented capabilities and operational improvements achieved so far.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1444752"/>
            <a:ext cx="5321808" cy="4480560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444752"/>
            <a:ext cx="5321808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92224"/>
            <a:ext cx="4023360" cy="2834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900" b="1">
                <a:solidFill>
                  <a:srgbClr val="0C1D38"/>
                </a:solidFill>
                <a:latin typeface="Aptos"/>
              </a:defRPr>
            </a:pPr>
            <a:r>
              <a:t>Generation &amp; 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507992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Full RAG pipeline: material ingestion → retrieval → generated assessments.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Hybrid retrieval improves terminology coverage beyond vector search alone.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Candidate-level retry reduces duplicate failures without restarting the whole request.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Partial-result aggregation returns valid questions when only a few candidates fail.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2824" y="1792224"/>
            <a:ext cx="4297680" cy="2834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900" b="1">
                <a:solidFill>
                  <a:srgbClr val="0C1D38"/>
                </a:solidFill>
                <a:latin typeface="Aptos"/>
              </a:defRPr>
            </a:pPr>
            <a:r>
              <a:t>Reliability &amp; Observability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507992" cy="3017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Structured failures distinguish model unavailable, provider rate limit, retrieval error, generation error, and validation rejection.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End-to-end run traces capture timestamps, stages, error messages, and final output state.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Monitoring UI supports request-level diagnosis.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Navigation displays API connection and configured model readiness.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Observability and Failure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Every generation request is represented by a run ID and stage-level event trace.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084831"/>
            <a:ext cx="1609344" cy="795528"/>
          </a:xfrm>
          <a:prstGeom prst="round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322576"/>
            <a:ext cx="1389888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230" b="1">
                <a:solidFill>
                  <a:srgbClr val="FFFFFF"/>
                </a:solidFill>
                <a:latin typeface="Aptos"/>
              </a:defRPr>
            </a:pPr>
            <a:r>
              <a:t>Request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6" y="2313432"/>
            <a:ext cx="25603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600" b="1">
                <a:solidFill>
                  <a:srgbClr val="5B6E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084831"/>
            <a:ext cx="1609344" cy="795528"/>
          </a:xfrm>
          <a:prstGeom prst="roundRect">
            <a:avLst/>
          </a:prstGeom>
          <a:solidFill>
            <a:srgbClr val="1968B4"/>
          </a:solidFill>
          <a:ln>
            <a:solidFill>
              <a:srgbClr val="19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2322576"/>
            <a:ext cx="1389888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230" b="1">
                <a:solidFill>
                  <a:srgbClr val="FFFFFF"/>
                </a:solidFill>
                <a:latin typeface="Aptos"/>
              </a:defRPr>
            </a:pPr>
            <a:r>
              <a:t>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313432"/>
            <a:ext cx="25603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600" b="1">
                <a:solidFill>
                  <a:srgbClr val="5B6E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84831"/>
            <a:ext cx="1609344" cy="795528"/>
          </a:xfrm>
          <a:prstGeom prst="roundRect">
            <a:avLst/>
          </a:prstGeom>
          <a:solidFill>
            <a:srgbClr val="1968B4"/>
          </a:solidFill>
          <a:ln>
            <a:solidFill>
              <a:srgbClr val="19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322576"/>
            <a:ext cx="1389888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230" b="1">
                <a:solidFill>
                  <a:srgbClr val="FFFFFF"/>
                </a:solidFill>
                <a:latin typeface="Aptos"/>
              </a:defRPr>
            </a:pPr>
            <a:r>
              <a:t>Evidence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2313432"/>
            <a:ext cx="25603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600" b="1">
                <a:solidFill>
                  <a:srgbClr val="5B6E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2784" y="2084831"/>
            <a:ext cx="1609344" cy="795528"/>
          </a:xfrm>
          <a:prstGeom prst="roundRect">
            <a:avLst/>
          </a:prstGeom>
          <a:solidFill>
            <a:srgbClr val="F49A39"/>
          </a:solidFill>
          <a:ln>
            <a:solidFill>
              <a:srgbClr val="F4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2322576"/>
            <a:ext cx="1389888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230" b="1">
                <a:solidFill>
                  <a:srgbClr val="FFFFFF"/>
                </a:solidFill>
                <a:latin typeface="Aptos"/>
              </a:defRPr>
            </a:pPr>
            <a:r>
              <a:t>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2313432"/>
            <a:ext cx="25603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600" b="1">
                <a:solidFill>
                  <a:srgbClr val="5B6E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2084831"/>
            <a:ext cx="1609344" cy="795528"/>
          </a:xfrm>
          <a:prstGeom prst="roundRect">
            <a:avLst/>
          </a:prstGeom>
          <a:solidFill>
            <a:srgbClr val="F49A39"/>
          </a:solidFill>
          <a:ln>
            <a:solidFill>
              <a:srgbClr val="F49A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2322576"/>
            <a:ext cx="1389888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230" b="1">
                <a:solidFill>
                  <a:srgbClr val="FFFFFF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93224" y="2313432"/>
            <a:ext cx="256032" cy="20116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600" b="1">
                <a:solidFill>
                  <a:srgbClr val="5B6E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76688" y="2084831"/>
            <a:ext cx="1609344" cy="795528"/>
          </a:xfrm>
          <a:prstGeom prst="roundRect">
            <a:avLst/>
          </a:prstGeom>
          <a:solidFill>
            <a:srgbClr val="259663"/>
          </a:solidFill>
          <a:ln>
            <a:solidFill>
              <a:srgbClr val="259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86415" y="2322576"/>
            <a:ext cx="1389888" cy="219456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230" b="1">
                <a:solidFill>
                  <a:srgbClr val="FFFFFF"/>
                </a:solidFill>
                <a:latin typeface="Aptos"/>
              </a:defRPr>
            </a:pPr>
            <a:r>
              <a:t>Completed / Failed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712463"/>
            <a:ext cx="10497312" cy="1344168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986784"/>
            <a:ext cx="2560320" cy="2286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700" b="1">
                <a:solidFill>
                  <a:srgbClr val="0C1D38"/>
                </a:solidFill>
                <a:latin typeface="Aptos"/>
              </a:defRPr>
            </a:pPr>
            <a:r>
              <a:t>Trace attributes captured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352544"/>
            <a:ext cx="946404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500" b="0">
                <a:solidFill>
                  <a:srgbClr val="1F2F40"/>
                </a:solidFill>
                <a:latin typeface="Aptos"/>
              </a:defRPr>
            </a:pPr>
            <a:r>
              <a:t>run ID • user/request type • timestamps • retrieval stage • generation attempts • candidate validation failures • retry reason • provider error • partial completion • final result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69280"/>
            <a:ext cx="105156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700" b="1">
                <a:solidFill>
                  <a:srgbClr val="259663"/>
                </a:solidFill>
                <a:latin typeface="Aptos"/>
              </a:defRPr>
            </a:pPr>
            <a:r>
              <a:t>This gives administrators a precise answer to: where did the request fail, and why?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Report Completion Status — 50%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Core pipeline is working; optimization and evaluation capabilities are the next development focus.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53312"/>
            <a:ext cx="5312664" cy="4553712"/>
          </a:xfrm>
          <a:prstGeom prst="roundRect">
            <a:avLst/>
          </a:prstGeom>
          <a:solidFill>
            <a:srgbClr val="F0F6FB"/>
          </a:solidFill>
          <a:ln>
            <a:solidFill>
              <a:srgbClr val="F0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63640" y="1353312"/>
            <a:ext cx="5312664" cy="4553712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700784"/>
            <a:ext cx="2194560" cy="2834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100" b="1">
                <a:solidFill>
                  <a:srgbClr val="259663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48840"/>
            <a:ext cx="452628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Ingestion, cleaning, chunking, embedding, and retrieval pipeline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LLM-based MCQ generation with diversity controls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Structural, quality, source, and duplicate validation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Partial results and explicit model/provider failure handling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Monitoring page, trace storage, and API/model health indicators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2824" y="1700784"/>
            <a:ext cx="3108960" cy="28346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100" b="1">
                <a:solidFill>
                  <a:srgbClr val="F49A39"/>
                </a:solidFill>
                <a:latin typeface="Aptos"/>
              </a:defRPr>
            </a:pPr>
            <a:r>
              <a:t>In Progress /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52628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HNSW and chunking parameter tuning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Re-ranking and domain-specific embedding evaluation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Second provider/model configuration for solver and critic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RAG evaluation dashboard: relevance, faithfulness, precision, recall</a:t>
            </a:r>
          </a:p>
          <a:p>
            <a:pPr>
              <a:spcAft>
                <a:spcPts val="1000"/>
              </a:spcAft>
              <a:defRPr sz="1550">
                <a:solidFill>
                  <a:srgbClr val="1F2F40"/>
                </a:solidFill>
                <a:latin typeface="Aptos"/>
              </a:defRPr>
            </a:pPr>
            <a:r>
              <a:t>Semantic caching, memory policy, load and latency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11480"/>
            <a:ext cx="10789920" cy="43891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700" b="1">
                <a:solidFill>
                  <a:srgbClr val="0C1D38"/>
                </a:solidFill>
                <a:latin typeface="Aptos"/>
              </a:defRPr>
            </a:pPr>
            <a:r>
              <a:t>Expected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96112"/>
            <a:ext cx="10789920" cy="3200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150" b="0">
                <a:solidFill>
                  <a:srgbClr val="5B6E80"/>
                </a:solidFill>
                <a:latin typeface="Aptos"/>
              </a:defRPr>
            </a:pPr>
            <a:r>
              <a:t>Target impact after the remaining optimization and evaluation work is completed.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r">
              <a:defRPr sz="1000" b="0">
                <a:solidFill>
                  <a:srgbClr val="5B6E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99616"/>
            <a:ext cx="5093208" cy="1481328"/>
          </a:xfrm>
          <a:prstGeom prst="roundRect">
            <a:avLst/>
          </a:prstGeom>
          <a:solidFill>
            <a:srgbClr val="F0F6FB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92224"/>
            <a:ext cx="4389120" cy="2468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Unlimited variation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21991"/>
            <a:ext cx="4334256" cy="4754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420" b="0">
                <a:solidFill>
                  <a:srgbClr val="1F2F40"/>
                </a:solidFill>
                <a:latin typeface="Aptos"/>
              </a:defRPr>
            </a:pPr>
            <a:r>
              <a:t>Generate many distinct questions from the same material using concept recombination and pattern rotation.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1499616"/>
            <a:ext cx="509320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1" y="1792224"/>
            <a:ext cx="4389120" cy="2468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Higher assessment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1" y="2221991"/>
            <a:ext cx="4334256" cy="4754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420" b="0">
                <a:solidFill>
                  <a:srgbClr val="1F2F40"/>
                </a:solidFill>
                <a:latin typeface="Aptos"/>
              </a:defRPr>
            </a:pPr>
            <a:r>
              <a:t>Grounded, meaningful 4-option MCQs with better distractors and fewer generic templates.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465576"/>
            <a:ext cx="5093208" cy="1481328"/>
          </a:xfrm>
          <a:prstGeom prst="roundRect">
            <a:avLst/>
          </a:prstGeom>
          <a:solidFill>
            <a:srgbClr val="F0F6FB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758184"/>
            <a:ext cx="4389120" cy="2468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Measurable RAG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187952"/>
            <a:ext cx="4334256" cy="4754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420" b="0">
                <a:solidFill>
                  <a:srgbClr val="1F2F40"/>
                </a:solidFill>
                <a:latin typeface="Aptos"/>
              </a:defRPr>
            </a:pPr>
            <a:r>
              <a:t>Expose context relevance, faithfulness, retrieval precision/recall, duplicate rate, latency, and error rate.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3465576"/>
            <a:ext cx="5093208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CFDD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3758184"/>
            <a:ext cx="4389120" cy="2468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0C1D38"/>
                </a:solidFill>
                <a:latin typeface="Aptos"/>
              </a:defRPr>
            </a:pPr>
            <a:r>
              <a:t>Operational transparency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4187952"/>
            <a:ext cx="4334256" cy="475488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420" b="0">
                <a:solidFill>
                  <a:srgbClr val="1F2F40"/>
                </a:solidFill>
                <a:latin typeface="Aptos"/>
              </a:defRPr>
            </a:pPr>
            <a:r>
              <a:t>Provide users and administrators exact, actionable reasons for unavailable models and failed requests.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D38"/>
          </a:solidFill>
          <a:ln>
            <a:solidFill>
              <a:srgbClr val="0C1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C2D2"/>
          </a:solidFill>
          <a:ln>
            <a:solidFill>
              <a:srgbClr val="2FC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1060704"/>
            <a:ext cx="6858000" cy="53035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31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9966960" cy="621792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2300" b="0">
                <a:solidFill>
                  <a:srgbClr val="DAE8F4"/>
                </a:solidFill>
                <a:latin typeface="Aptos"/>
              </a:defRPr>
            </a:pPr>
            <a:r>
              <a:t>The system combines RAG-based LLM generation with deterministic validation and traceable quality assurance.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054096"/>
            <a:ext cx="10515600" cy="1307592"/>
          </a:xfrm>
          <a:prstGeom prst="roundRect">
            <a:avLst/>
          </a:prstGeom>
          <a:solidFill>
            <a:srgbClr val="1968B4"/>
          </a:solidFill>
          <a:ln>
            <a:solidFill>
              <a:srgbClr val="196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5848"/>
            <a:ext cx="9875520" cy="786384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Retrieval grounds the question in source evidence.</a:t>
            </a:r>
            <a:br/>
            <a:r>
              <a:t>Generation creates diverse assessment candidates.</a:t>
            </a:r>
            <a:br/>
            <a:r>
              <a:t>Validation and monitoring make results dependable and explainable.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97880"/>
            <a:ext cx="3200400" cy="2743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defRPr sz="1800" b="1">
                <a:solidFill>
                  <a:srgbClr val="2FC2D2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